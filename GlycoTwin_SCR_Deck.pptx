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F2E2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F2E2D"/>
                </a:solidFill>
                <a:latin typeface="Calibri"/>
              </a:rPr>
              <a:t>AUROC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3F7B6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F2E2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7B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A6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A6A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Fused: record + wearable</c:v>
                  </c:pt>
                  <c:pt idx="1">
                    <c:v>Glucose alone</c:v>
                  </c:pt>
                  <c:pt idx="2">
                    <c:v>30-min slope alone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0.986</c:v>
                </c:pt>
                <c:pt idx="1">
                  <c:v>0.751</c:v>
                </c:pt>
                <c:pt idx="2">
                  <c:v>0.619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400" u="none">
                  <a:solidFill>
                    <a:srgbClr val="2F2E2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F2E2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1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96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Aeternum, led by Naveen V Hiremath, and GlycoTwin: a Type 2 diabetes digital twin for the Happiest Health Digital Twin Challenge 2026. For one synthetic patient it joins a clinic record to a 14-day wearable trace and estimates whether glucose will reach 180 mg/dL in the next 2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Situation. A doctor has a clinic record and a wearable trace for the same patient, and wants to know about the next 2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339 synthetic patients. The record comes from Synthea; the wearable series is simulated with seed 2026. These are not real watches and not lab continuous glucose. The same patient id joins both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Complication. Two patients can have the same glucose now and very different futures.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140 to 160 mg/dL band the 2-hour spike rate is 0.8 percent when HbA1c is under 7 percent and 29.7 percent when it is 7 percent or higher. Glucose alone gives AUROC 0.751 and the 30-minute slope alone 0.619.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Resolution. GlycoTwin fuses the record and the wearable trace, then shows the doctor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never looks ahead. The alert comes from the LightGBM risk alone; the four glucose models only draw the forecast curve for the doctor. Train and test patients are separated by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AUROC on the 52 held-out patients: fused 0.986, glucose alone 0.751, 30-minute slope alone 0.619. Say clearly that the high score is on a formula-generated series and is not clinical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doctor UI runs at localhost:3000 and talks only to the Next.js server, which proxies to the API at 127.0.0.1:8000. After sign-in the list is sorted by risk. The replay runs from 5 January 2026, 06:00 to 18 January 2026, 21:30. The what-if sliders state the change in words, for example that a new sleep value moved the 2-hour risk from one percent to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 by side in the app: the same glucose of 148.5 mg/dL, but HbA1c 6.0 percent did not reach 180 in the next 2 hours, while HbA1c 7.8 percent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examples are held-out alerts. Open the Model notes page in the app to show the patient id, time, probability and curve for each. Showing a miss on purpose is part of being honest about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story with the limits. Everything runs locally on synthetic data, and the screen is a decision aid for exploration, not a dosing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judges. Offer to open the live demo at localhost:3000.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lls, tree and colour 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30936" y="3291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4634"/>
                </a:solidFill>
              </a:rPr>
              <a:t>GlycoTwin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630936" y="67665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967"/>
                </a:solidFill>
              </a:rPr>
              <a:t>Happiest Health Digital Twin Challenge 2026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0936" y="14173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2E2D"/>
                </a:solidFill>
              </a:rPr>
              <a:t>GlycoTwin: Type 2 Diabetes Digital Twin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30936" y="2743200"/>
            <a:ext cx="274320" cy="32004"/>
          </a:xfrm>
          <a:prstGeom prst="rect">
            <a:avLst/>
          </a:prstGeom>
          <a:solidFill>
            <a:srgbClr val="E0A84A"/>
          </a:solidFill>
          <a:ln w="12700">
            <a:solidFill>
              <a:srgbClr val="E0A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0936" y="2971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6B6967"/>
                </a:solidFill>
              </a:rPr>
              <a:t>Team Name: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F2E2D"/>
                </a:solidFill>
              </a:rPr>
              <a:t>Aeternum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6B6967"/>
                </a:solidFill>
              </a:rPr>
              <a:t>Team Leader: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F2E2D"/>
                </a:solidFill>
              </a:rPr>
              <a:t>Naveen V Hiremath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29768" y="5010912"/>
            <a:ext cx="3840480" cy="274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een panel with doodle 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45336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9601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</a:rPr>
              <a:t>01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1993392" y="1600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2E2D"/>
                </a:solidFill>
              </a:rPr>
              <a:t>Situation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1993392" y="2468880"/>
            <a:ext cx="475488" cy="32004"/>
          </a:xfrm>
          <a:prstGeom prst="rect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93392" y="26974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F2E2D"/>
                </a:solidFill>
              </a:rPr>
              <a:t>One patient, two data sources, one question for the doctor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2E2D"/>
                </a:solidFill>
              </a:rPr>
              <a:t>Two data sources, one patient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11480" cy="32004"/>
          </a:xfrm>
          <a:prstGeom prst="rect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GlycoTwin | Team Aeternum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566160" cy="2423160"/>
          </a:xfrm>
          <a:prstGeom prst="roundRect">
            <a:avLst>
              <a:gd name="adj" fmla="val 3019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365760" cy="365760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E2D"/>
                </a:solidFill>
              </a:rPr>
              <a:t>Clinic record (Synthea)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2024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2E2D"/>
                </a:solidFill>
              </a:rPr>
              <a:t>Age, sex, BMI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2E2D"/>
                </a:solidFill>
              </a:rPr>
              <a:t>HbA1c, diabetes duration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2E2D"/>
                </a:solidFill>
              </a:rPr>
              <a:t>Blood pressure, hypertension, kidney disease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2E2D"/>
                </a:solidFill>
              </a:rPr>
              <a:t>Metformin, sulfonylurea, insulin on record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24528" y="2240280"/>
            <a:ext cx="694944" cy="69494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24528" y="22402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297180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967"/>
                </a:solidFill>
              </a:rPr>
              <a:t>same patient 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280160"/>
            <a:ext cx="3566160" cy="2423160"/>
          </a:xfrm>
          <a:prstGeom prst="roundRect">
            <a:avLst>
              <a:gd name="adj" fmla="val 3019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417320"/>
            <a:ext cx="365760" cy="365760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87568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E2D"/>
                </a:solidFill>
              </a:rPr>
              <a:t>Wearable trace (simulated)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192024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2E2D"/>
                </a:solidFill>
              </a:rPr>
              <a:t>5-minute series over 14 days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2E2D"/>
                </a:solidFill>
              </a:rPr>
              <a:t>Glucose and heart rate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2E2D"/>
                </a:solidFill>
              </a:rPr>
              <a:t>Steps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2E2D"/>
                </a:solidFill>
              </a:rPr>
              <a:t>One sleep value per night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8620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886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question: will glucose reach 180 mg/dL in the next 2 hours?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een panel with doodle 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45336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9601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</a:rPr>
              <a:t>02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1993392" y="1600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2E2D"/>
                </a:solidFill>
              </a:rPr>
              <a:t>Complication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1993392" y="2468880"/>
            <a:ext cx="475488" cy="32004"/>
          </a:xfrm>
          <a:prstGeom prst="rect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93392" y="26974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F2E2D"/>
                </a:solidFill>
              </a:rPr>
              <a:t>Recent glucose alone cannot tell similar patients apart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2E2D"/>
                </a:solidFill>
              </a:rPr>
              <a:t>Same glucose, very different outcome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11480" cy="32004"/>
          </a:xfrm>
          <a:prstGeom prst="rect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GlycoTwin | Team Aeternum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967"/>
                </a:solidFill>
              </a:rPr>
              <a:t>2-hour spike rate when glucose is 140 to 160 mg/dL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F7B64"/>
                </a:solidFill>
              </a:rPr>
              <a:t>0.8%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2E2D"/>
                </a:solidFill>
              </a:rPr>
              <a:t>HbA1c under 7%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08960" y="173736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FBEEEA"/>
          </a:solidFill>
          <a:ln w="12700">
            <a:solidFill>
              <a:srgbClr val="FBEE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08960" y="1874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74634"/>
                </a:solidFill>
              </a:rPr>
              <a:t>29.7%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2E2D"/>
                </a:solidFill>
              </a:rPr>
              <a:t>HbA1c 7% or higher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06440" y="1783080"/>
            <a:ext cx="365760" cy="365760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064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737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Glucose alone ranks risk with an AUROC of only 0.751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06440" y="2788920"/>
            <a:ext cx="365760" cy="365760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064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743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The 30-minute slope alone reaches 0.619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319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When recent glucose looks the same, the record changes the call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een panel with doodle 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45336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9601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</a:rPr>
              <a:t>03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1993392" y="1600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2E2D"/>
                </a:solidFill>
              </a:rPr>
              <a:t>Resolution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1993392" y="2468880"/>
            <a:ext cx="475488" cy="32004"/>
          </a:xfrm>
          <a:prstGeom prst="rect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93392" y="26974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F2E2D"/>
                </a:solidFill>
              </a:rPr>
              <a:t>Fuse the record with the wearable trace, and show the work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2E2D"/>
                </a:solidFill>
              </a:rPr>
              <a:t>How GlycoTwin makes the call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11480" cy="32004"/>
          </a:xfrm>
          <a:prstGeom prst="rect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GlycoTwin | Team Aeternum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384048" cy="384048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2E2D"/>
                </a:solidFill>
              </a:rPr>
              <a:t>Join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3172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Record and wearable trace joined by patient 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128016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417320"/>
            <a:ext cx="384048" cy="384048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2E2D"/>
                </a:solidFill>
              </a:rPr>
              <a:t>Window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33172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Every 30 minutes, the model sees only the past 6 hours plus the record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417320"/>
            <a:ext cx="384048" cy="384048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2E2D"/>
                </a:solidFill>
              </a:rPr>
              <a:t>Score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233172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LightGBM gives the 2-hour spike chance. Four more models draw glucose at 30, 60, 90 and 120 minutes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20840" y="128016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417320"/>
            <a:ext cx="384048" cy="38404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2E2D"/>
                </a:solidFill>
              </a:rPr>
              <a:t>Alert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233172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On at 60% risk. The curve does not decide the alert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39319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People are split by person: a test patient never appears in training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2E2D"/>
                </a:solidFill>
              </a:rPr>
              <a:t>Results on 52 held-out patients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11480" cy="32004"/>
          </a:xfrm>
          <a:prstGeom prst="rect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GlycoTwin | Team Aeternum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8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280160"/>
          <a:ext cx="50292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280160"/>
            <a:ext cx="2743200" cy="3246120"/>
          </a:xfrm>
          <a:prstGeom prst="roundRect">
            <a:avLst>
              <a:gd name="adj" fmla="val 2667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F7B64"/>
                </a:solidFill>
              </a:rPr>
              <a:t>0.986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2E2D"/>
                </a:solidFill>
              </a:rPr>
              <a:t>fused model AUROC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28803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967"/>
                </a:solidFill>
              </a:rPr>
              <a:t>This score describes a formula-generated series. It is not a clinical validation.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2E2D"/>
                </a:solidFill>
              </a:rPr>
              <a:t>What the doctor sees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11480" cy="32004"/>
          </a:xfrm>
          <a:prstGeom prst="rect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GlycoTwin | Team Aeternum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329184" cy="329184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14173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2E2D"/>
                </a:solidFill>
              </a:rPr>
              <a:t>Risk-sorted list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84708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Sorted by 2-hour risk. Filter All, High, Moderate, Low. Search by id.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417320"/>
            <a:ext cx="329184" cy="329184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58768" y="14173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2E2D"/>
                </a:solidFill>
              </a:rPr>
              <a:t>Record first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84708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HbA1c, BMI, blood pressure, duration, medicines, then the glucose chart.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417320"/>
            <a:ext cx="329184" cy="329184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14173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2E2D"/>
                </a:solidFill>
              </a:rPr>
              <a:t>Same glucose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184708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Two held-out moments at 148.5 mg/dL, side by side.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108960"/>
            <a:ext cx="329184" cy="329184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31089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2E2D"/>
                </a:solidFill>
              </a:rPr>
              <a:t>14-day replay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5387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A slider moves the decision through the 14 days. The chart and alert follow.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9184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3108960"/>
            <a:ext cx="329184" cy="329184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2900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858768" y="31089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2E2D"/>
                </a:solidFill>
              </a:rPr>
              <a:t>What-if in words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35387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Sleep and step sliders rescore the model. Nothing is saved.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3504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3108960"/>
            <a:ext cx="329184" cy="329184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7220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601968" y="31089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2E2D"/>
                </a:solidFill>
              </a:rPr>
              <a:t>One hit, one miss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172200" y="35387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Model notes pin one right alert and one wrong alert.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2E2D"/>
                </a:solidFill>
              </a:rPr>
              <a:t>The record changes the call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11480" cy="32004"/>
          </a:xfrm>
          <a:prstGeom prst="rect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GlycoTwin | Team Aeternum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967"/>
                </a:solidFill>
              </a:rPr>
              <a:t>Two held-out moments, both at glucose 148.5 mg/dL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794760" cy="2011680"/>
          </a:xfrm>
          <a:prstGeom prst="roundRect">
            <a:avLst>
              <a:gd name="adj" fmla="val 363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7B64"/>
                </a:solidFill>
              </a:rPr>
              <a:t>HbA1c 6.0%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2E2D"/>
                </a:solidFill>
              </a:rPr>
              <a:t>Did not reach 180 mg/dL in the next 2 hours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00600" y="1737360"/>
            <a:ext cx="3794760" cy="2011680"/>
          </a:xfrm>
          <a:prstGeom prst="roundRect">
            <a:avLst>
              <a:gd name="adj" fmla="val 3636"/>
            </a:avLst>
          </a:prstGeom>
          <a:solidFill>
            <a:srgbClr val="FBEEEA"/>
          </a:solidFill>
          <a:ln w="12700">
            <a:solidFill>
              <a:srgbClr val="FBEE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87452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4634"/>
                </a:solidFill>
              </a:rPr>
              <a:t>HbA1c 7.8%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7432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2E2D"/>
                </a:solidFill>
              </a:rPr>
              <a:t>Reached 180 mg/dL in the next 2 hours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15968" y="2395728"/>
            <a:ext cx="512064" cy="512064"/>
          </a:xfrm>
          <a:prstGeom prst="ellipse">
            <a:avLst/>
          </a:prstGeom>
          <a:solidFill>
            <a:srgbClr val="6B6967"/>
          </a:solidFill>
          <a:ln w="12700">
            <a:solidFill>
              <a:srgbClr val="6B69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1596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Each card in the app shows the live risk and forecast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2E2D"/>
                </a:solidFill>
              </a:rPr>
              <a:t>One alert right, one alert wrong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11480" cy="32004"/>
          </a:xfrm>
          <a:prstGeom prst="rect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GlycoTwin | Team Aeternum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794760" cy="2468880"/>
          </a:xfrm>
          <a:prstGeom prst="roundRect">
            <a:avLst>
              <a:gd name="adj" fmla="val 2963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44752"/>
            <a:ext cx="384048" cy="384048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447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7B64"/>
                </a:solidFill>
              </a:rPr>
              <a:t>Alert was right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1031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F2E2D"/>
                </a:solidFill>
              </a:rPr>
              <a:t>Glucose 176.5 mg/dL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F2E2D"/>
                </a:solidFill>
              </a:rPr>
              <a:t>Alert 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F2E2D"/>
                </a:solidFill>
              </a:rPr>
              <a:t>A real spike followed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00600" y="1280160"/>
            <a:ext cx="3794760" cy="2468880"/>
          </a:xfrm>
          <a:prstGeom prst="roundRect">
            <a:avLst>
              <a:gd name="adj" fmla="val 2963"/>
            </a:avLst>
          </a:prstGeom>
          <a:solidFill>
            <a:srgbClr val="FBEEEA"/>
          </a:solidFill>
          <a:ln w="12700">
            <a:solidFill>
              <a:srgbClr val="FBE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1444752"/>
            <a:ext cx="384048" cy="38404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4447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4634"/>
                </a:solidFill>
              </a:rPr>
              <a:t>Alert was wrong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1031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F2E2D"/>
                </a:solidFill>
              </a:rPr>
              <a:t>Glucose 168.2 mg/dL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F2E2D"/>
                </a:solidFill>
              </a:rPr>
              <a:t>Alert 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F2E2D"/>
                </a:solidFill>
              </a:rPr>
              <a:t>No spike in the next 2 hours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9319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 notes pin both, with patient id, time, probability and curve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2E2D"/>
                </a:solidFill>
              </a:rPr>
              <a:t>Built to be honest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11480" cy="32004"/>
          </a:xfrm>
          <a:prstGeom prst="rect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GlycoTwin | Team Aeternum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7"/>
                </a:solidFill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35608"/>
            <a:ext cx="347472" cy="347472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35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E2D"/>
                </a:solidFill>
              </a:rPr>
              <a:t>Synthetic data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1901952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A Synthea record and a simulated wearable series, seed 2026. Not real watches, not lab continuous glucose.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435608"/>
            <a:ext cx="347472" cy="347472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435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E2D"/>
                </a:solidFill>
              </a:rPr>
              <a:t>Not clinical validation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1901952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The high score describes a formula-generated series.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081528"/>
            <a:ext cx="347472" cy="347472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815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E2D"/>
                </a:solidFill>
              </a:rPr>
              <a:t>No drug dose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3547872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The screen never recommends a drug dose.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081528"/>
            <a:ext cx="347472" cy="347472"/>
          </a:xfrm>
          <a:prstGeom prst="ellipse">
            <a:avLst/>
          </a:prstGeom>
          <a:solidFill>
            <a:srgbClr val="3F7B64"/>
          </a:solidFill>
          <a:ln w="12700">
            <a:solidFill>
              <a:srgbClr val="3F7B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28032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30815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E2D"/>
                </a:solidFill>
              </a:rPr>
              <a:t>Nothing is saved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828032" y="3547872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E2D"/>
                </a:solidFill>
              </a:rPr>
              <a:t>What-if sliders rescore only. A footer on every signed-in page says the data is synthetic and not clinically validated.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lls, tree and colour 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30936" y="3291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4634"/>
                </a:solidFill>
              </a:rPr>
              <a:t>GlycoTwin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630936" y="14173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2E2D"/>
                </a:solidFill>
              </a:rPr>
              <a:t>Thank you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630936" y="2743200"/>
            <a:ext cx="274320" cy="32004"/>
          </a:xfrm>
          <a:prstGeom prst="rect">
            <a:avLst/>
          </a:prstGeom>
          <a:solidFill>
            <a:srgbClr val="E0A84A"/>
          </a:solidFill>
          <a:ln w="12700">
            <a:solidFill>
              <a:srgbClr val="E0A8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" y="2971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967"/>
                </a:solidFill>
              </a:rPr>
              <a:t>The record changes the call when recent glucose looks the same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29768" y="5010912"/>
            <a:ext cx="3840480" cy="274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GlycoTwin - Type 2 Diabetes Digital Twin</dc:title>
  <dc:subject>PptxGenJS Presentation</dc:subject>
  <dc:creator>Team Aeternum</dc:creator>
  <cp:lastModifiedBy>Team Aeternum</cp:lastModifiedBy>
  <cp:revision>1</cp:revision>
  <dcterms:created xsi:type="dcterms:W3CDTF">2026-10-19T22:12:00Z</dcterms:created>
  <dcterms:modified xsi:type="dcterms:W3CDTF">2026-10-19T22:12:00Z</dcterms:modified>
</cp:coreProperties>
</file>